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8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5" r:id="rId12"/>
    <p:sldId id="266" r:id="rId13"/>
    <p:sldId id="287" r:id="rId14"/>
    <p:sldId id="265" r:id="rId15"/>
    <p:sldId id="286" r:id="rId16"/>
    <p:sldId id="270" r:id="rId17"/>
    <p:sldId id="267" r:id="rId18"/>
    <p:sldId id="268" r:id="rId19"/>
    <p:sldId id="271" r:id="rId20"/>
    <p:sldId id="272" r:id="rId21"/>
    <p:sldId id="273" r:id="rId22"/>
    <p:sldId id="275" r:id="rId23"/>
    <p:sldId id="276" r:id="rId24"/>
    <p:sldId id="277" r:id="rId25"/>
    <p:sldId id="280" r:id="rId26"/>
    <p:sldId id="281" r:id="rId27"/>
    <p:sldId id="282" r:id="rId28"/>
    <p:sldId id="283" r:id="rId29"/>
    <p:sldId id="288" r:id="rId30"/>
    <p:sldId id="269" r:id="rId31"/>
  </p:sldIdLst>
  <p:sldSz cx="12192000" cy="6858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0" autoAdjust="0"/>
    <p:restoredTop sz="94660"/>
  </p:normalViewPr>
  <p:slideViewPr>
    <p:cSldViewPr snapToGrid="0">
      <p:cViewPr varScale="1">
        <p:scale>
          <a:sx n="72" d="100"/>
          <a:sy n="72" d="100"/>
        </p:scale>
        <p:origin x="4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22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23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602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674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78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75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947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02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72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83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5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F69BA-0836-4ED7-BACD-30E64F7FA21B}" type="datetimeFigureOut">
              <a:rPr lang="en-GB" smtClean="0"/>
              <a:t>10/11/2020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944AE-AC34-4CBB-955E-75B91A0F73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81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7983" y="214277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sz="9600" b="1" dirty="0">
                <a:solidFill>
                  <a:srgbClr val="FF0000"/>
                </a:solidFill>
              </a:rPr>
              <a:t>COM521 </a:t>
            </a:r>
            <a:br>
              <a:rPr lang="en-GB" sz="9600" b="1" dirty="0">
                <a:solidFill>
                  <a:srgbClr val="FF0000"/>
                </a:solidFill>
              </a:rPr>
            </a:br>
            <a:r>
              <a:rPr lang="en-GB" sz="9600" b="1" dirty="0">
                <a:solidFill>
                  <a:srgbClr val="FF0000"/>
                </a:solidFill>
              </a:rPr>
              <a:t>Ethical Hacking and Penetration Testing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7983" y="4715221"/>
            <a:ext cx="9144000" cy="1655762"/>
          </a:xfrm>
        </p:spPr>
        <p:txBody>
          <a:bodyPr>
            <a:normAutofit/>
          </a:bodyPr>
          <a:lstStyle/>
          <a:p>
            <a:r>
              <a:rPr lang="en-GB" sz="4400" dirty="0"/>
              <a:t> Penetration Testing</a:t>
            </a:r>
          </a:p>
        </p:txBody>
      </p:sp>
    </p:spTree>
    <p:extLst>
      <p:ext uri="{BB962C8B-B14F-4D97-AF65-F5344CB8AC3E}">
        <p14:creationId xmlns:p14="http://schemas.microsoft.com/office/powerpoint/2010/main" val="1804953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52E7-7EA5-4295-833A-D1A691B0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53D32-A619-4C38-8BA6-2F4A85973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Penetration testing is one of the best ways to see if your security will hold. </a:t>
            </a:r>
          </a:p>
          <a:p>
            <a:r>
              <a:rPr lang="en-GB" dirty="0"/>
              <a:t>It assesses the security model of the organisation</a:t>
            </a:r>
            <a:endParaRPr lang="en-US" dirty="0"/>
          </a:p>
          <a:p>
            <a:r>
              <a:rPr lang="en-US" dirty="0"/>
              <a:t>It puts testers in the role of attackers, looking for vulnerabilities in your networks, computers, applications, email, and even your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608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9628"/>
          </a:xfrm>
        </p:spPr>
        <p:txBody>
          <a:bodyPr>
            <a:normAutofit fontScale="90000"/>
          </a:bodyPr>
          <a:lstStyle/>
          <a:p>
            <a:r>
              <a:rPr lang="en-GB" dirty="0"/>
              <a:t>Security Assessments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000" y="784754"/>
            <a:ext cx="11167999" cy="576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4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Compliance </a:t>
            </a:r>
          </a:p>
          <a:p>
            <a:pPr lvl="1"/>
            <a:r>
              <a:rPr lang="en-GB" dirty="0"/>
              <a:t>ISO27001 Information Security certification</a:t>
            </a:r>
          </a:p>
          <a:p>
            <a:pPr lvl="1"/>
            <a:r>
              <a:rPr lang="en-GB" dirty="0"/>
              <a:t>ISO27017 Cloud Security  </a:t>
            </a:r>
          </a:p>
          <a:p>
            <a:pPr lvl="1"/>
            <a:r>
              <a:rPr lang="en-GB" dirty="0"/>
              <a:t>ISO27799 Information Security guide _ Health Information 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r>
              <a:rPr lang="en-GB" dirty="0"/>
              <a:t>Security Policies ensure the organisation has a set of standard security Policies</a:t>
            </a: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r>
              <a:rPr lang="en-GB" dirty="0"/>
              <a:t>Legal And Regulatory – Different legal requirements  </a:t>
            </a:r>
          </a:p>
          <a:p>
            <a:pPr marL="457200" lvl="1" indent="0">
              <a:buNone/>
            </a:pPr>
            <a:r>
              <a:rPr lang="en-GB" dirty="0"/>
              <a:t>Data Protection act 2018 retained GDPR </a:t>
            </a:r>
          </a:p>
          <a:p>
            <a:pPr marL="457200" lvl="1" indent="0">
              <a:buNone/>
            </a:pPr>
            <a:r>
              <a:rPr lang="en-GB" dirty="0"/>
              <a:t>Computer misuse act 1990 – 2 years in prison</a:t>
            </a:r>
          </a:p>
          <a:p>
            <a:pPr marL="457200" lvl="1" indent="0">
              <a:buNone/>
            </a:pPr>
            <a:r>
              <a:rPr lang="en-GB" dirty="0"/>
              <a:t>Fraud act 2006 – 10 years in prison </a:t>
            </a: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558007"/>
            <a:ext cx="3387800" cy="237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67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34977"/>
          </a:xfrm>
        </p:spPr>
        <p:txBody>
          <a:bodyPr/>
          <a:lstStyle/>
          <a:p>
            <a:r>
              <a:rPr lang="en-GB" b="1" dirty="0"/>
              <a:t>Vulnerability Assessment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838" y="934977"/>
            <a:ext cx="10108962" cy="568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50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Vulnerability Assessment Limitations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Only valid at one point in time </a:t>
            </a:r>
          </a:p>
          <a:p>
            <a:r>
              <a:rPr lang="en-GB" dirty="0"/>
              <a:t>Updates changes </a:t>
            </a:r>
            <a:r>
              <a:rPr lang="en-GB" dirty="0" err="1"/>
              <a:t>etc</a:t>
            </a:r>
            <a:r>
              <a:rPr lang="en-GB" dirty="0"/>
              <a:t> will invalidate the assessment</a:t>
            </a:r>
          </a:p>
          <a:p>
            <a:r>
              <a:rPr lang="en-GB" dirty="0"/>
              <a:t>Depends on the user rights of the pen tester </a:t>
            </a:r>
            <a:r>
              <a:rPr lang="en-GB" dirty="0" err="1"/>
              <a:t>etc</a:t>
            </a:r>
            <a:endParaRPr lang="en-GB" dirty="0"/>
          </a:p>
          <a:p>
            <a:r>
              <a:rPr lang="en-GB" dirty="0"/>
              <a:t>No indication if the vulnerabilities can be exploited</a:t>
            </a:r>
          </a:p>
          <a:p>
            <a:r>
              <a:rPr lang="en-GB" dirty="0"/>
              <a:t>No Indication of amount of damage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166" y="1363662"/>
            <a:ext cx="3028889" cy="229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52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035"/>
          </a:xfrm>
        </p:spPr>
        <p:txBody>
          <a:bodyPr>
            <a:normAutofit fontScale="90000"/>
          </a:bodyPr>
          <a:lstStyle/>
          <a:p>
            <a:r>
              <a:rPr lang="en-GB" dirty="0"/>
              <a:t>Penetration Testing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11240"/>
            <a:ext cx="9951720" cy="594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00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</p:spPr>
        <p:txBody>
          <a:bodyPr>
            <a:normAutofit fontScale="90000"/>
          </a:bodyPr>
          <a:lstStyle/>
          <a:p>
            <a:r>
              <a:rPr lang="en-GB" dirty="0"/>
              <a:t>Goals of Penetration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9758"/>
            <a:ext cx="10515600" cy="4351338"/>
          </a:xfrm>
        </p:spPr>
        <p:txBody>
          <a:bodyPr/>
          <a:lstStyle/>
          <a:p>
            <a:r>
              <a:rPr lang="en-GB" dirty="0"/>
              <a:t>Assess the Security Model</a:t>
            </a:r>
          </a:p>
          <a:p>
            <a:r>
              <a:rPr lang="en-GB" dirty="0"/>
              <a:t>Reveal Potential Consequences</a:t>
            </a:r>
          </a:p>
          <a:p>
            <a:r>
              <a:rPr lang="en-GB" dirty="0"/>
              <a:t>Identify Threats</a:t>
            </a:r>
          </a:p>
          <a:p>
            <a:r>
              <a:rPr lang="en-GB" dirty="0"/>
              <a:t>Reduce </a:t>
            </a:r>
            <a:r>
              <a:rPr lang="en-GB" dirty="0" err="1"/>
              <a:t>longterm</a:t>
            </a:r>
            <a:r>
              <a:rPr lang="en-GB" dirty="0"/>
              <a:t> Costs</a:t>
            </a:r>
          </a:p>
          <a:p>
            <a:r>
              <a:rPr lang="en-GB" dirty="0"/>
              <a:t>Regulation and best practices</a:t>
            </a:r>
          </a:p>
          <a:p>
            <a:r>
              <a:rPr lang="en-GB" dirty="0"/>
              <a:t>Evaluate both devices and software and business applications </a:t>
            </a:r>
          </a:p>
          <a:p>
            <a:r>
              <a:rPr lang="en-GB" dirty="0"/>
              <a:t>Evaluate a system which has changed</a:t>
            </a:r>
          </a:p>
          <a:p>
            <a:r>
              <a:rPr lang="en-GB" dirty="0"/>
              <a:t>Demonstrates if vulnerabilities can be successfully exploited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41" y="428360"/>
            <a:ext cx="2968082" cy="277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79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Penetration Testing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Establish Parameters : objectives and limitations</a:t>
            </a:r>
          </a:p>
          <a:p>
            <a:r>
              <a:rPr lang="en-GB" dirty="0"/>
              <a:t>Use professionals</a:t>
            </a:r>
          </a:p>
          <a:p>
            <a:r>
              <a:rPr lang="en-GB" dirty="0"/>
              <a:t>Use suitable tests</a:t>
            </a:r>
          </a:p>
          <a:p>
            <a:r>
              <a:rPr lang="en-GB" dirty="0"/>
              <a:t>Proper Planning</a:t>
            </a:r>
          </a:p>
          <a:p>
            <a:r>
              <a:rPr lang="en-GB" dirty="0"/>
              <a:t>Documentation</a:t>
            </a:r>
          </a:p>
          <a:p>
            <a:r>
              <a:rPr lang="en-GB" dirty="0"/>
              <a:t>State Risks and findings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6770" y="1825625"/>
            <a:ext cx="2678684" cy="18658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819" y="2505869"/>
            <a:ext cx="1992048" cy="21303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674" y="3954747"/>
            <a:ext cx="1482725" cy="235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07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46075"/>
          </a:xfrm>
        </p:spPr>
        <p:txBody>
          <a:bodyPr>
            <a:normAutofit fontScale="90000"/>
          </a:bodyPr>
          <a:lstStyle/>
          <a:p>
            <a:r>
              <a:rPr lang="en-GB" dirty="0"/>
              <a:t>Types of Pen Test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00949"/>
            <a:ext cx="10033000" cy="591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20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BF6F54-0D83-48EC-80A5-AA213603FA45}"/>
              </a:ext>
            </a:extLst>
          </p:cNvPr>
          <p:cNvSpPr/>
          <p:nvPr/>
        </p:nvSpPr>
        <p:spPr>
          <a:xfrm>
            <a:off x="627367" y="1107720"/>
            <a:ext cx="10399643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testing team has complete access to the testing network and has been supplied with network diagrams, hardware, operating system and application details </a:t>
            </a:r>
            <a:r>
              <a:rPr lang="en-US" sz="2800" dirty="0" err="1"/>
              <a:t>etc</a:t>
            </a:r>
            <a:r>
              <a:rPr lang="en-US" sz="2800" dirty="0"/>
              <a:t>, prior to a test being carried out. </a:t>
            </a:r>
          </a:p>
          <a:p>
            <a:endParaRPr lang="en-US" sz="2800" dirty="0"/>
          </a:p>
          <a:p>
            <a:r>
              <a:rPr lang="en-US" sz="2800" dirty="0"/>
              <a:t>The amount of prior knowledge leads to a test targeting specific operating systems, applications and network devices that reside on the network rather than spending time enumerating what could possibly be on the network. 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Not a blind 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Can speed up the process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More accurate results. </a:t>
            </a:r>
          </a:p>
          <a:p>
            <a:endParaRPr lang="en-GB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3B77E3-BF96-442E-821F-4801D4DED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384" y="473903"/>
            <a:ext cx="10515600" cy="9308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White Box Testing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505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White Box Testing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361" y="1690688"/>
            <a:ext cx="8812212" cy="432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78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E2E7-ECBD-40B0-B789-585BDB55D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Grey-Box Testing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793454-E186-4FF6-8C73-4AB8FD0519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0639"/>
            <a:ext cx="105156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testing team would simulate an attack that could be carried out by a disgruntled, disaffected staff member.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testing team would be supplied with appropriate user level privileges and a user account and access permitted to the internal network by relaxation of specific security policies present on the network i.e. port level 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311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GB" dirty="0"/>
              <a:t>Grey Box Testing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640" y="1536610"/>
            <a:ext cx="430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0950"/>
            <a:ext cx="9084733" cy="51228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0929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C1169-D59A-4BB7-B8DE-57C953445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Black-Box Testing</a:t>
            </a:r>
            <a:br>
              <a:rPr lang="en-US" dirty="0"/>
            </a:b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AF43BE-CA45-4B09-A584-E3B2A77B4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7906"/>
            <a:ext cx="10515600" cy="357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 prior knowledge of a company network is known. </a:t>
            </a:r>
          </a:p>
          <a:p>
            <a:r>
              <a:rPr lang="en-US" dirty="0"/>
              <a:t>An example of this is when an external web based test is to be carried out and only the details of a website URL or IP address is supplied to the testing team</a:t>
            </a:r>
          </a:p>
          <a:p>
            <a:r>
              <a:rPr lang="en-US" dirty="0"/>
              <a:t> This is the same as if the hacker breaks into the company website/ network. </a:t>
            </a:r>
          </a:p>
          <a:p>
            <a:r>
              <a:rPr lang="en-US" dirty="0"/>
              <a:t>This would equate to an external attack carried out by a malicious hacker.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0637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r>
              <a:rPr lang="en-GB" dirty="0"/>
              <a:t>Black Box Testing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088" y="948266"/>
            <a:ext cx="10433579" cy="572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Techniques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230" y="1215549"/>
            <a:ext cx="9640570" cy="545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30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 Attack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7817"/>
            <a:ext cx="6503504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Define Rules of engagement</a:t>
            </a:r>
          </a:p>
          <a:p>
            <a:r>
              <a:rPr lang="en-GB" sz="3600" dirty="0">
                <a:solidFill>
                  <a:srgbClr val="FF0000"/>
                </a:solidFill>
              </a:rPr>
              <a:t>Get Permission </a:t>
            </a:r>
          </a:p>
          <a:p>
            <a:r>
              <a:rPr lang="en-GB" sz="3200" dirty="0">
                <a:solidFill>
                  <a:srgbClr val="FF0000"/>
                </a:solidFill>
              </a:rPr>
              <a:t>Draft a legally binding contract created with knowledge and expertise. </a:t>
            </a:r>
          </a:p>
          <a:p>
            <a:r>
              <a:rPr lang="en-GB" sz="3200" dirty="0">
                <a:solidFill>
                  <a:srgbClr val="FF0000"/>
                </a:solidFill>
              </a:rPr>
              <a:t>Inform all critical stakeholders ?</a:t>
            </a:r>
          </a:p>
          <a:p>
            <a:r>
              <a:rPr lang="en-GB" sz="3200" dirty="0">
                <a:solidFill>
                  <a:srgbClr val="FF0000"/>
                </a:solidFill>
              </a:rPr>
              <a:t>Specify the Type, time and duration of the attack.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</a:p>
          <a:p>
            <a:r>
              <a:rPr lang="en-US" sz="3200" dirty="0">
                <a:solidFill>
                  <a:srgbClr val="FF0000"/>
                </a:solidFill>
              </a:rPr>
              <a:t>Sensitive data handling</a:t>
            </a:r>
          </a:p>
          <a:p>
            <a:r>
              <a:rPr lang="en-US" sz="3200" dirty="0">
                <a:solidFill>
                  <a:srgbClr val="FF0000"/>
                </a:solidFill>
              </a:rPr>
              <a:t>Status meeting and reports</a:t>
            </a:r>
            <a:endParaRPr lang="en-GB" sz="3200" dirty="0">
              <a:solidFill>
                <a:srgbClr val="FF0000"/>
              </a:solidFill>
            </a:endParaRPr>
          </a:p>
          <a:p>
            <a:endParaRPr lang="en-GB" sz="3200" dirty="0">
              <a:solidFill>
                <a:srgbClr val="FF0000"/>
              </a:solidFill>
            </a:endParaRPr>
          </a:p>
          <a:p>
            <a:endParaRPr lang="en-GB" sz="3200" dirty="0">
              <a:solidFill>
                <a:srgbClr val="FF0000"/>
              </a:solidFill>
            </a:endParaRPr>
          </a:p>
          <a:p>
            <a:endParaRPr lang="en-GB" sz="3200" dirty="0">
              <a:solidFill>
                <a:srgbClr val="FF0000"/>
              </a:solidFill>
            </a:endParaRPr>
          </a:p>
          <a:p>
            <a:endParaRPr lang="en-GB" sz="3200" dirty="0">
              <a:solidFill>
                <a:srgbClr val="FF0000"/>
              </a:solidFill>
            </a:endParaRPr>
          </a:p>
          <a:p>
            <a:endParaRPr lang="en-GB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sz="96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220" y="2075864"/>
            <a:ext cx="2707747" cy="23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05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Attack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Penetrate Perimeter</a:t>
            </a:r>
          </a:p>
          <a:p>
            <a:r>
              <a:rPr lang="en-GB" dirty="0"/>
              <a:t>Enumerate Devices</a:t>
            </a:r>
          </a:p>
          <a:p>
            <a:r>
              <a:rPr lang="en-GB" dirty="0" err="1"/>
              <a:t>Aquire</a:t>
            </a:r>
            <a:r>
              <a:rPr lang="en-GB" dirty="0"/>
              <a:t> Target</a:t>
            </a:r>
          </a:p>
          <a:p>
            <a:r>
              <a:rPr lang="en-GB" dirty="0"/>
              <a:t>Discover Vulnerabilities</a:t>
            </a:r>
          </a:p>
          <a:p>
            <a:r>
              <a:rPr lang="en-GB" dirty="0"/>
              <a:t>Exploit vulnerabilities</a:t>
            </a:r>
          </a:p>
          <a:p>
            <a:r>
              <a:rPr lang="en-GB" dirty="0"/>
              <a:t>Buffer overflow</a:t>
            </a:r>
          </a:p>
          <a:p>
            <a:r>
              <a:rPr lang="en-GB" dirty="0"/>
              <a:t>Inject payload  </a:t>
            </a:r>
          </a:p>
          <a:p>
            <a:r>
              <a:rPr lang="en-GB" dirty="0"/>
              <a:t>Phishing  or Consequences </a:t>
            </a:r>
          </a:p>
          <a:p>
            <a:r>
              <a:rPr lang="en-GB" dirty="0"/>
              <a:t>Social Engineering or Consequences</a:t>
            </a:r>
          </a:p>
          <a:p>
            <a:r>
              <a:rPr lang="en-GB" dirty="0"/>
              <a:t>Escalate Privileges</a:t>
            </a:r>
          </a:p>
          <a:p>
            <a:r>
              <a:rPr lang="en-GB" dirty="0"/>
              <a:t>Pivot or vertical movement</a:t>
            </a:r>
          </a:p>
          <a:p>
            <a:r>
              <a:rPr lang="en-GB" dirty="0"/>
              <a:t>Cover tracks</a:t>
            </a:r>
          </a:p>
          <a:p>
            <a:r>
              <a:rPr lang="en-GB" dirty="0"/>
              <a:t>Document all stages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144" y="2211272"/>
            <a:ext cx="3652044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4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Post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Remove and Clean up</a:t>
            </a:r>
          </a:p>
          <a:p>
            <a:r>
              <a:rPr lang="en-GB" dirty="0"/>
              <a:t>Restore network to pre attack phase</a:t>
            </a:r>
          </a:p>
          <a:p>
            <a:r>
              <a:rPr lang="en-GB" dirty="0"/>
              <a:t>Reverse changes in software and users</a:t>
            </a:r>
          </a:p>
          <a:p>
            <a:r>
              <a:rPr lang="en-GB" dirty="0"/>
              <a:t>Map Network</a:t>
            </a:r>
          </a:p>
          <a:p>
            <a:r>
              <a:rPr lang="en-GB" dirty="0"/>
              <a:t>Document logs</a:t>
            </a:r>
          </a:p>
          <a:p>
            <a:r>
              <a:rPr lang="en-GB" dirty="0" err="1"/>
              <a:t>Analyze</a:t>
            </a:r>
            <a:r>
              <a:rPr lang="en-GB" dirty="0"/>
              <a:t> results</a:t>
            </a:r>
          </a:p>
          <a:p>
            <a:r>
              <a:rPr lang="en-GB" dirty="0"/>
              <a:t>Present in Report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920" y="2220383"/>
            <a:ext cx="2967198" cy="219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91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4475"/>
          </a:xfrm>
        </p:spPr>
        <p:txBody>
          <a:bodyPr>
            <a:normAutofit fontScale="90000"/>
          </a:bodyPr>
          <a:lstStyle/>
          <a:p>
            <a:r>
              <a:rPr lang="en-GB" dirty="0"/>
              <a:t>Pen Test Report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467" y="847883"/>
            <a:ext cx="10487730" cy="589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35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0AF7E-0C95-4D7D-A6C4-BDD8CBFC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AC6AB-3197-4E03-82AB-06021B510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An introduction to the Penetration testing and the target including any Aim objective , problem statement and or hypothesis. Describe the ethical hacking environment you have chosen to use as the target or container of the target, present a diagram of the hardware or virtual resources including the network topology and a table of network addresses, transport protocol flow diagram, application data  flow and security protocol diagrams.     </a:t>
            </a:r>
          </a:p>
          <a:p>
            <a:r>
              <a:rPr lang="en-GB" dirty="0"/>
              <a:t>It will present a clear statement of your purpose – Why did you carry out the Pen test? </a:t>
            </a:r>
          </a:p>
          <a:p>
            <a:r>
              <a:rPr lang="en-GB" dirty="0"/>
              <a:t>It will also indicate the scope of your testing the type of testing (Black box White box etc) and define any key terms which aid understanding in the introduction.</a:t>
            </a:r>
          </a:p>
          <a:p>
            <a:pPr marL="457200" lvl="1" indent="0">
              <a:buNone/>
            </a:pPr>
            <a:endParaRPr lang="en-US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116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EFF5-5280-4CCA-B217-9B1CB659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: Network Details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A26F5-5794-4E2F-A452-2B2E4E678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Number of Servers and workstations</a:t>
            </a:r>
          </a:p>
          <a:p>
            <a:r>
              <a:rPr lang="en-US" dirty="0"/>
              <a:t>Operating System Details</a:t>
            </a:r>
          </a:p>
          <a:p>
            <a:r>
              <a:rPr lang="en-US" dirty="0"/>
              <a:t>Any Major Software Applications</a:t>
            </a:r>
          </a:p>
          <a:p>
            <a:r>
              <a:rPr lang="en-US" dirty="0"/>
              <a:t>Hardware configuration and setup (could be unknown)</a:t>
            </a:r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36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A4CE-7D50-49BA-9344-F8F3C8374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Test details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4C8777-50C4-4A4B-B2D4-8E7068E4C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4"/>
            <a:ext cx="1022491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Scope of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 and limitations imposed on the tester i.e. Out of scope items, hardware, IP addresses.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Constraints, limitations or problems encountered by the </a:t>
            </a:r>
            <a:r>
              <a:rPr lang="en-US" altLang="en-US" sz="1800" dirty="0">
                <a:latin typeface="Arial" panose="020B0604020202020204" pitchFamily="34" charset="0"/>
              </a:rPr>
              <a:t>tester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the actual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 of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of Test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sng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Compliance Test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Vulnerability Assessment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Penetration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Type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White-Box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Black-Box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Grey-Box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947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C99C-4E0C-483B-9BCF-8CFA1197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Intelligence Gathering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F60E2-B806-4150-8F49-E21A54465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 and document information gleaned about the target with passive methods of research, footprinting and reconnaissance.  </a:t>
            </a:r>
          </a:p>
          <a:p>
            <a:r>
              <a:rPr lang="en-GB" dirty="0"/>
              <a:t>And / or Document results of active intelligence gathering </a:t>
            </a:r>
            <a:r>
              <a:rPr lang="en-GB" dirty="0" err="1"/>
              <a:t>eg</a:t>
            </a:r>
            <a:r>
              <a:rPr lang="en-GB" dirty="0"/>
              <a:t> target scanning.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0495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1A88-8596-4C6D-844C-6C544325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Vulnerability Analysis and or Penetration Testing 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2A796-BD7D-4EBC-85F1-805A24683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Discover and document vulnerabilities of the specific target. </a:t>
            </a:r>
          </a:p>
          <a:p>
            <a:r>
              <a:rPr lang="en-GB" dirty="0"/>
              <a:t>Automated vulnerability scan </a:t>
            </a:r>
          </a:p>
          <a:p>
            <a:r>
              <a:rPr lang="en-GB" dirty="0"/>
              <a:t>Manual audit and Vulnerability assessment</a:t>
            </a:r>
          </a:p>
          <a:p>
            <a:r>
              <a:rPr lang="en-GB" b="1" dirty="0"/>
              <a:t> Exploitation</a:t>
            </a:r>
            <a:endParaRPr lang="en-GB" dirty="0"/>
          </a:p>
          <a:p>
            <a:r>
              <a:rPr lang="en-GB" dirty="0"/>
              <a:t>The attack narrative, describe what, how and why you attacked the specific target.</a:t>
            </a:r>
          </a:p>
          <a:p>
            <a:r>
              <a:rPr lang="en-GB" dirty="0"/>
              <a:t>Describe any malware and or hacking tools used. </a:t>
            </a:r>
          </a:p>
          <a:p>
            <a:r>
              <a:rPr lang="en-GB" dirty="0"/>
              <a:t>Include notes images screenshots and diagrams.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4125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FB66-2C4F-4425-B58E-9239F4EF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Exploitation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7AD14-700F-4D92-8009-965D8C8F1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or some of the following:  </a:t>
            </a:r>
          </a:p>
          <a:p>
            <a:endParaRPr lang="en-GB" dirty="0"/>
          </a:p>
          <a:p>
            <a:r>
              <a:rPr lang="en-GB" dirty="0"/>
              <a:t>Compromising systems, </a:t>
            </a:r>
          </a:p>
          <a:p>
            <a:r>
              <a:rPr lang="en-GB" dirty="0"/>
              <a:t>Finding files or data, exfiltration of data, hiding data, </a:t>
            </a:r>
          </a:p>
          <a:p>
            <a:r>
              <a:rPr lang="en-GB" dirty="0"/>
              <a:t>Escalating privileges, obtaining passwords. </a:t>
            </a:r>
          </a:p>
          <a:p>
            <a:r>
              <a:rPr lang="en-GB" dirty="0"/>
              <a:t>Planting malware, scripting, rooting, patching, network configuration and access control modification.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8832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C5C8-F77C-4523-969C-7CFADB64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08EE7-9F06-45F1-BDB5-EE2009951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704"/>
            <a:ext cx="10515600" cy="493125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Draw conclusions on the success of the attack analyse malware &amp; identify its mechanisms for exploitation and concealment.</a:t>
            </a:r>
          </a:p>
          <a:p>
            <a:endParaRPr lang="en-GB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OS Security issues discovered with appropriate criticality level specified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Exploited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Causes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Unable to exploit - problem area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Causes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Hardware failing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Software failing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Human error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Application Security issues discovered with appropriate criticality level specified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Exploited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Unable to exploit - problem area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General Security issues discovered with appropriate criticality level specified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Exploited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Unable to exploit - problem area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7722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FB37-2A2D-4F95-A8F6-811D0B79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BF10C-5539-4496-B9CB-DAD36F6C5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Recommend methods for :</a:t>
            </a:r>
          </a:p>
          <a:p>
            <a:r>
              <a:rPr lang="en-US" dirty="0"/>
              <a:t>Vulnerability repair </a:t>
            </a:r>
          </a:p>
          <a:p>
            <a:r>
              <a:rPr lang="en-US" dirty="0"/>
              <a:t>Mitigation </a:t>
            </a:r>
          </a:p>
          <a:p>
            <a:r>
              <a:rPr lang="en-US" dirty="0"/>
              <a:t>Malware detection methods. </a:t>
            </a:r>
          </a:p>
          <a:p>
            <a:r>
              <a:rPr lang="en-US" dirty="0"/>
              <a:t>Improving Security Monitoring</a:t>
            </a:r>
          </a:p>
          <a:p>
            <a:r>
              <a:rPr lang="en-GB" dirty="0"/>
              <a:t>Recommend security roles  </a:t>
            </a:r>
            <a:endParaRPr lang="en-US" dirty="0"/>
          </a:p>
          <a:p>
            <a:r>
              <a:rPr lang="en-US" dirty="0"/>
              <a:t>A Computer Security Incident Response Team (</a:t>
            </a:r>
            <a:r>
              <a:rPr lang="en-US" b="1" dirty="0"/>
              <a:t>CSIRT</a:t>
            </a:r>
            <a:r>
              <a:rPr lang="en-US" dirty="0"/>
              <a:t>)</a:t>
            </a:r>
          </a:p>
          <a:p>
            <a:r>
              <a:rPr lang="en-GB" dirty="0"/>
              <a:t>Continuity and Disaster Recovery Plans</a:t>
            </a:r>
          </a:p>
        </p:txBody>
      </p:sp>
    </p:spTree>
    <p:extLst>
      <p:ext uri="{BB962C8B-B14F-4D97-AF65-F5344CB8AC3E}">
        <p14:creationId xmlns:p14="http://schemas.microsoft.com/office/powerpoint/2010/main" val="3763538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6875"/>
          </a:xfrm>
        </p:spPr>
        <p:txBody>
          <a:bodyPr>
            <a:normAutofit fontScale="90000"/>
          </a:bodyPr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17600"/>
            <a:ext cx="10515600" cy="5059363"/>
          </a:xfrm>
        </p:spPr>
        <p:txBody>
          <a:bodyPr>
            <a:normAutofit fontScale="92500"/>
          </a:bodyPr>
          <a:lstStyle/>
          <a:p>
            <a:r>
              <a:rPr lang="en-GB" dirty="0"/>
              <a:t>Pen Testing assesses the security model of the organisation</a:t>
            </a:r>
          </a:p>
          <a:p>
            <a:r>
              <a:rPr lang="en-GB" dirty="0"/>
              <a:t>A Pen Test simulates methods intruders use to gain unauthorised access</a:t>
            </a:r>
          </a:p>
          <a:p>
            <a:r>
              <a:rPr lang="en-GB" dirty="0"/>
              <a:t>Security Assessment categories are security audits, vulnerability assessments and penetration testing</a:t>
            </a:r>
          </a:p>
          <a:p>
            <a:r>
              <a:rPr lang="en-GB" dirty="0"/>
              <a:t>Test types can be White box, Grey box or Black Box</a:t>
            </a:r>
          </a:p>
          <a:p>
            <a:r>
              <a:rPr lang="en-GB" dirty="0"/>
              <a:t>Depends on Clients operating environment threat perception, security policies, compliance requirement, return on investment and Budget </a:t>
            </a:r>
          </a:p>
          <a:p>
            <a:r>
              <a:rPr lang="en-GB" dirty="0"/>
              <a:t>Draft a contract with legal expertise</a:t>
            </a:r>
          </a:p>
          <a:p>
            <a:r>
              <a:rPr lang="en-GB" dirty="0"/>
              <a:t>Phases of the test are Pre Attack </a:t>
            </a:r>
            <a:r>
              <a:rPr lang="en-GB" dirty="0" err="1"/>
              <a:t>Attack</a:t>
            </a:r>
            <a:r>
              <a:rPr lang="en-GB" dirty="0"/>
              <a:t> phase and post attack</a:t>
            </a:r>
          </a:p>
          <a:p>
            <a:r>
              <a:rPr lang="en-GB" dirty="0"/>
              <a:t>The report will document the attack and may provide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242312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1067</TotalTime>
  <Words>1123</Words>
  <Application>Microsoft Office PowerPoint</Application>
  <PresentationFormat>Widescreen</PresentationFormat>
  <Paragraphs>177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Calibri Light</vt:lpstr>
      <vt:lpstr>Arial</vt:lpstr>
      <vt:lpstr>Calibri</vt:lpstr>
      <vt:lpstr>Office Theme</vt:lpstr>
      <vt:lpstr>COM521  Ethical Hacking and Penetration Testing  </vt:lpstr>
      <vt:lpstr>PowerPoint Presentation</vt:lpstr>
      <vt:lpstr>Security Assessments</vt:lpstr>
      <vt:lpstr>Security Audit</vt:lpstr>
      <vt:lpstr>Vulnerability Assessment</vt:lpstr>
      <vt:lpstr>Vulnerability Assessment Limitations</vt:lpstr>
      <vt:lpstr>Penetration Testing</vt:lpstr>
      <vt:lpstr>Goals of Penetration Test</vt:lpstr>
      <vt:lpstr>Penetration Testing process</vt:lpstr>
      <vt:lpstr>Types of Pen Test</vt:lpstr>
      <vt:lpstr>PowerPoint Presentation</vt:lpstr>
      <vt:lpstr>White Box Testing</vt:lpstr>
      <vt:lpstr>Grey-Box Testing </vt:lpstr>
      <vt:lpstr>Grey Box Testing </vt:lpstr>
      <vt:lpstr>Black-Box Testing </vt:lpstr>
      <vt:lpstr>Black Box Testing</vt:lpstr>
      <vt:lpstr>Techniques</vt:lpstr>
      <vt:lpstr>Pre Attack Phase</vt:lpstr>
      <vt:lpstr>Attack Phase</vt:lpstr>
      <vt:lpstr>Post Attack</vt:lpstr>
      <vt:lpstr>Pen Test Report</vt:lpstr>
      <vt:lpstr>Introduction</vt:lpstr>
      <vt:lpstr>Introduction : Network Details</vt:lpstr>
      <vt:lpstr>Introduction Test details</vt:lpstr>
      <vt:lpstr>Intelligence Gathering</vt:lpstr>
      <vt:lpstr>Vulnerability Analysis and or Penetration Testing  </vt:lpstr>
      <vt:lpstr>Post Exploitation</vt:lpstr>
      <vt:lpstr>Conclusions </vt:lpstr>
      <vt:lpstr>Recommendations</vt:lpstr>
      <vt:lpstr>Summary</vt:lpstr>
    </vt:vector>
  </TitlesOfParts>
  <Company>Southampton Solent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Earle</dc:creator>
  <cp:lastModifiedBy>Warren Earle</cp:lastModifiedBy>
  <cp:revision>42</cp:revision>
  <dcterms:created xsi:type="dcterms:W3CDTF">2015-03-26T17:20:19Z</dcterms:created>
  <dcterms:modified xsi:type="dcterms:W3CDTF">2020-11-11T07:08:00Z</dcterms:modified>
</cp:coreProperties>
</file>